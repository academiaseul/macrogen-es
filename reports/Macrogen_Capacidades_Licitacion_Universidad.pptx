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29 años de trayectoria, presencia en 153 países, y un equipo local en Santiago. Somos la combinación de escala global con servicio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oficiales publicadas por Macrogen Inc. (macrogen.com). Ingresos y personal según estados financieros consolidados 2024-2025 incluyendo Psomagen.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hitos respaldan la afirmación de 'pionero': el primer genoma coreano del mundo y el mapa CNV asiático son referencias citadas internacionalmente.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solicitar a casa matriz los certificados con vigencia actualizada antes de adjuntar el anexo. Verificar en particular ISO 27001 e ISO 27701.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ofrecer prueba piloto — es el desbloqueador más eficaz en licitaciones universitarias.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5120640" cy="5120640"/>
          </a:xfrm>
          <a:prstGeom prst="ellipse">
            <a:avLst/>
          </a:prstGeom>
          <a:solidFill>
            <a:srgbClr val="1330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008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HUMANIZING GENOMICS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técnicas 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comprobada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F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secuenciación genómica, síntesis de oligonucleótidos y bioinformática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411480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6305F"/>
          </a:solidFill>
          <a:ln w="12700">
            <a:solidFill>
              <a:srgbClr val="2C4B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114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 en 1997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411480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6305F"/>
          </a:solidFill>
          <a:ln w="12700">
            <a:solidFill>
              <a:srgbClr val="2C4B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4114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mundial en capacidad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78424" y="411480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6305F"/>
          </a:solidFill>
          <a:ln w="12700">
            <a:solidFill>
              <a:srgbClr val="2C4B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78424" y="4114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países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1389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537667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· Agencia en Chile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" y="57241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Magdalena 140, Of. 401 · Las Condes, Santiago · Chile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Macrogen es el socio adecuado.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proveedor que combina la escala de un líder mundial con un equipo técnico presente en Santiago.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C4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9339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2578608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fundación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años de operación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ininterrumpida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847088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E6F7F5"/>
          </a:solidFill>
          <a:ln w="12700">
            <a:solidFill>
              <a:srgbClr val="A9E4D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C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99339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93008" y="2578608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mundial de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genómico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+300.000 genomas/año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47088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C4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99339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27648" y="2578608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atendidos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+33.000 clientes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 el mundo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847088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C4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199339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62288" y="2578608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para análisis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big data genómico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C4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95020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N.º 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58368" y="453542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 mercado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secuenciación para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en Corea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3803904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C4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395020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493008" y="453542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científicas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SCI, incluyendo revistas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familia Nature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3803904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C4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395020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670+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327648" y="453542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en la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global Macrogen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(incluye Psomagen)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3803904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C4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52560" y="395020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135M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62288" y="453542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anuales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consolidados 2025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listada en KOSDAQ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DEL OFERENTE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somos.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5943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 social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4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Macrogen, Inc.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4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de junio de 1997 · Seúl, Corea del Sur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4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Jeong-Sun Seo (actual Presidente)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 ejecutiva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4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Jeongsun Seo · Changhoon Kim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4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KOSDAQ, desde febrero de 2000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 matriz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4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 Teheran-ro, Gangnam-gu, Seúl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Representación 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4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Macrogen Inc. Agencia en Chile · Santiago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Áreas de negocio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4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NGS · CES/Sanger · Oligo · Microarray · GEM · Bioinformática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481328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0A1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22592" y="17007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global Macrogen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22592" y="2011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Filiales y centros propios que respaldan cada proyecto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059168" y="2523744"/>
            <a:ext cx="118872" cy="118872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96912" y="24323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 del Sur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296912" y="26334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matriz · Centros Songdo y Sejong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059168" y="2971800"/>
            <a:ext cx="118872" cy="118872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96912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Unidos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296912" y="3081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Psomagen, Inc. (Maryland)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059168" y="3419856"/>
            <a:ext cx="118872" cy="118872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96912" y="33284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296912" y="35295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Spain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059168" y="3867912"/>
            <a:ext cx="118872" cy="118872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96912" y="3776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Bajos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296912" y="39776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Europe BV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59168" y="4315968"/>
            <a:ext cx="118872" cy="118872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96912" y="4224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Japón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296912" y="44256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Japan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59168" y="4764024"/>
            <a:ext cx="118872" cy="118872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96912" y="4672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Singapur / Oceanía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296912" y="48737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Singapore · Macrogen Oceania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059168" y="5212080"/>
            <a:ext cx="118872" cy="118872"/>
          </a:xfrm>
          <a:prstGeom prst="ellipse">
            <a:avLst/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96912" y="5120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4B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296912" y="53218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en Chile — atiende Chile y Perú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años abriendo camino en genómica.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no sólo presta servicios de secuenciación: ha producido hitos científicos de referencia mundial.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4708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9344" y="181051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de Macrogen en Seúl, a partir del Instituto de Investigación Genómica de la Universidad Nacional de Seúl.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1576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9344" y="267919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en bolsa (KOSDAQ). Inicio del programa de proyectos genoma.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5844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8444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9344" y="354787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genoma completo de Zymomonas mobilis ZM4 — publicado en Nature Biotechnology.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45312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5312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9344" y="441655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genoma humano coreano completamente secuenciado en el mundo.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32180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2180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9344" y="528523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variación en número de copias (CNV) de la población asiática.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84708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84708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32904" y="181051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mundial del primer gen causal novedoso de cáncer de pulmón.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271576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71576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32904" y="267919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Acreditación internacional ISO/IEC 17025 (DAkkS Alemania · KOLAS Corea).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35844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58444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32904" y="354787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institución en Corea acreditada para análisis de muestras clínicas por NGS (GCLP).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445312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445312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32904" y="441655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Songdo y Sejong con acreditación CAP y certificación CLIA. AI Hub Songdo.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OPERATIVA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entre las 5 mayores del mundo.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0A1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2763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mundial en capacidad de secuenciación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análisis genómico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444752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E6F7F5"/>
          </a:solidFill>
          <a:ln w="12700">
            <a:solidFill>
              <a:srgbClr val="A9E4DE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53328" y="1591056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+300.000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53328" y="1901952"/>
            <a:ext cx="220370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genomas completos por año de capacidad instalada de análisis.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05088" y="1444752"/>
            <a:ext cx="2907792" cy="1920240"/>
          </a:xfrm>
          <a:prstGeom prst="roundRect">
            <a:avLst>
              <a:gd name="adj" fmla="val 4286"/>
            </a:avLst>
          </a:prstGeom>
          <a:solidFill>
            <a:srgbClr val="E6F7F5"/>
          </a:solidFill>
          <a:ln w="12700">
            <a:solidFill>
              <a:srgbClr val="A9E4DE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06256" y="159105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06256" y="1901952"/>
            <a:ext cx="25054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recursos de cómputo dedicados a análisis de big data genómico.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6027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esto para su institución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365760" cy="36576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7822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60704" y="4023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cuellos de botella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0704" y="42793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de gran cohorte no compiten por capacidad ni quedan en lista de espera.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4059936"/>
            <a:ext cx="365760" cy="36576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407822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84264" y="4023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Plazos sostenidos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84264" y="42793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escala permite comprometer tiempos de entrega y mantenerlos en volumen.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084064"/>
            <a:ext cx="365760" cy="36576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10235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0704" y="50474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garantizada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" y="530352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centros propios: si un centro se satura, el proyecto continúa en otro.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5084064"/>
            <a:ext cx="365760" cy="36576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510235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84264" y="50474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inmediato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84264" y="530352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tubo individual a miles de muestras sin cambiar de proveedor.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TECNOLÓGICO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tecnologías, bajo un mismo techo.</a:t>
            </a:r>
            <a:endParaRPr lang="en-US" sz="3000" dirty="0"/>
          </a:p>
        </p:txBody>
      </p:sp>
      <p:pic>
        <p:nvPicPr>
          <p:cNvPr id="4" name="Image 0" descr="novaseq-x-pl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371600"/>
            <a:ext cx="288036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508406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NovaSeq X Plus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732520" y="530352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cortesía de Illumina, Inc.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444752"/>
            <a:ext cx="79552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664208"/>
            <a:ext cx="137160" cy="13716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15087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Short-read NGS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337560" y="15087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NovaSeq X Plus · NovaSeq 6000 · NextSeq · MiSeq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7955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2322576"/>
            <a:ext cx="137160" cy="13716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21671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Long-read NGS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337560" y="216712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PacBio Revio (HiFi) · Oxford Nanopore PromethION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761488"/>
            <a:ext cx="79552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2980944"/>
            <a:ext cx="137160" cy="137160"/>
          </a:xfrm>
          <a:prstGeom prst="ellipse">
            <a:avLst/>
          </a:prstGeom>
          <a:solidFill>
            <a:srgbClr val="E000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28254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/ CES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337560" y="282549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Biosystems 3730xl — lecturas hasta 1.050 pb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419856"/>
            <a:ext cx="7955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3639312"/>
            <a:ext cx="137160" cy="137160"/>
          </a:xfrm>
          <a:prstGeom prst="ellipse">
            <a:avLst/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34838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cell &amp; espacial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337560" y="348386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Genomics Chromium · Visium · Visium CytAssist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078224"/>
            <a:ext cx="79552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9808" y="4297680"/>
            <a:ext cx="137160" cy="137160"/>
          </a:xfrm>
          <a:prstGeom prst="ellipse">
            <a:avLst/>
          </a:prstGeom>
          <a:solidFill>
            <a:srgbClr val="1330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" y="41422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Microarray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337560" y="41422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· Affymetrix · Agilent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4736592"/>
            <a:ext cx="7955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9808" y="4956048"/>
            <a:ext cx="137160" cy="137160"/>
          </a:xfrm>
          <a:prstGeom prst="ellipse">
            <a:avLst/>
          </a:prstGeom>
          <a:solidFill>
            <a:srgbClr val="1330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05840" y="4800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propia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337560" y="48006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Oligos DNA/RNA · péptidos · síntesis de genes · LGC MerMade 12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5486400"/>
            <a:ext cx="7955280" cy="658368"/>
          </a:xfrm>
          <a:prstGeom prst="roundRect">
            <a:avLst>
              <a:gd name="adj" fmla="val 11111"/>
            </a:avLst>
          </a:prstGeom>
          <a:solidFill>
            <a:srgbClr val="E6F7F5"/>
          </a:solidFill>
          <a:ln w="12700">
            <a:solidFill>
              <a:srgbClr val="A9E4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555955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de servicios certificado (CSP) por Illumina, PacBio, 10x Genomics, Agilent, Thermo Fisher, Life Technologies y Ultima Genomics.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INTEGRAL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proveedor, todo el flujo experimental.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diseño del primer hasta el reporte bioinformático — sin intermediarios ni subcontratos.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56816"/>
            <a:ext cx="182880" cy="18288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9456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· Secuenciación masiva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615184"/>
            <a:ext cx="226771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Genome Sequencing (WGS)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Exome Sequencing (WES)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/ paneles dirigidos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y transcriptoma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Epigenoma (WGBS · RRBS · ChIP-seq)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Metagenoma (16S · 18S · shotgun)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46704" y="1773936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956816"/>
            <a:ext cx="182880" cy="182880"/>
          </a:xfrm>
          <a:prstGeom prst="ellipse">
            <a:avLst/>
          </a:prstGeom>
          <a:solidFill>
            <a:srgbClr val="E000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219456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· Sanger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47872" y="2615184"/>
            <a:ext cx="226771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Sequencing (tubo y placa 96)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microbiana y fúngica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Analysis (GeneScan)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Sequencing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templates y Primer Walking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144768" y="1773936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956816"/>
            <a:ext cx="182880" cy="182880"/>
          </a:xfrm>
          <a:prstGeom prst="ellipse">
            <a:avLst/>
          </a:prstGeom>
          <a:solidFill>
            <a:srgbClr val="1330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219456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propia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45936" y="2615184"/>
            <a:ext cx="226771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Oligonucleótidos DNA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Oligonucleótidos RNA (siRNA, miRNA)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Péptidos y glicopéptidos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genes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modificaciones 5′ / 3′ / internas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942832" y="1773936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0" y="1956816"/>
            <a:ext cx="182880" cy="182880"/>
          </a:xfrm>
          <a:prstGeom prst="ellipse">
            <a:avLst/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19456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Multi-ómica avanzada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0" y="2615184"/>
            <a:ext cx="226771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cell (10x Chromium)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Transcriptómica espacial (Visium)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Proteómica (Olink)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Microarrays</a:t>
            </a:r>
            <a:endParaRPr lang="en-US" sz="9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/ CRISPR — modelos animales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48640" y="5175504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0A1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21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 incluida en todos los servicios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596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validados (GATK y equivalentes), análisis básico sin costo adicional, y análisis avanzado a medida. Monitoreo del proyecto en tiempo real mediante sistema LIMS, desde la recepción de la muestra hasta la entrega de resultados.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 CLAVE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propia: el ciclo completo sin terceros.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proveedores de secuenciación compran los oligonucleótidos a un tercero. Macrogen los sintetiza en instalaciones propias — y eso cambia tres cosas concretas para su proyecto.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48256"/>
            <a:ext cx="6766560" cy="987552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40864"/>
            <a:ext cx="402336" cy="402336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5915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21762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garantizada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16736" y="245059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y la corrida se diseñan en la misma casa. Se elimina la causa más frecuente de repetición: incompatibilidad entre el fluoróforo del primer y el dye set del secuenciador.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6766560" cy="987552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74720"/>
            <a:ext cx="402336" cy="402336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930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16736" y="33101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responsable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16736" y="3584448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resultado requiere revisión, no hay discusión entre proveedores sobre quién responde. Un único interlocutor técnico para todo el flujo.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6766560" cy="987552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608576"/>
            <a:ext cx="402336" cy="402336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2686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16736" y="44439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de gestión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16736" y="471830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orden, una factura, un plazo. Sin coordinar compras separadas de insumos y servicios ni sumar tiempos de espera en serie.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2048256"/>
            <a:ext cx="4069080" cy="3730752"/>
          </a:xfrm>
          <a:prstGeom prst="roundRect">
            <a:avLst>
              <a:gd name="adj" fmla="val 2451"/>
            </a:avLst>
          </a:prstGeom>
          <a:solidFill>
            <a:srgbClr val="0A1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0688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síntesis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90688" y="261518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DNA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290304" y="258775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· 50 · 200 nmol · 1 µmol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7790688" y="29946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9290304" y="29672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130 bases estándar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790688" y="337413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290304" y="334670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3.000 pb, validados por Sanger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7790688" y="37536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Purificación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290304" y="372618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Desalt · MOPC · HPLC &gt;90% · PAGE &gt;95%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7790688" y="413308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290304" y="4105656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MALDI-TOF MS en el 100% de los lotes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7790688" y="45125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Fluoróforos 5′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9290304" y="448513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 · HEX · TET · JOE · TAMRA · CY3/5</a:t>
            </a:r>
            <a:endParaRPr lang="en-US" sz="86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 · TexasRed · YakimaYellow · ATTO565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7790688" y="489204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Quenchers 3′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9290304" y="48646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BHQ1/2/3 · BBQ650 · Dabcyl · Eclipse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7790688" y="527151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Modificaciones internas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9290304" y="524408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LNA (A/C/G/T) · espaciadores · tioles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ACREDITACIONES Y CERTIFICACIONES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auditada por terceros independientes.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440680" cy="2048256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55648"/>
            <a:ext cx="182880" cy="18288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682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calidad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048256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— otorgada por BSI (British Standards Institution)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casa matriz y a Psomagen (Macrogen USA)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172200" y="1517904"/>
            <a:ext cx="5440680" cy="2048256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91656" y="1755648"/>
            <a:ext cx="182880" cy="182880"/>
          </a:xfrm>
          <a:prstGeom prst="ellipse">
            <a:avLst/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84264" y="1682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ensayo acreditado internacionalmente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29400" y="2048256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17025 — acreditación DAkkS (Alemania) y KOLAS (Corea)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reconocidos en los 94 países miembros de ILAC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440680" cy="2048256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986784"/>
            <a:ext cx="182880" cy="182880"/>
          </a:xfrm>
          <a:prstGeom prst="ellipse">
            <a:avLst/>
          </a:prstGeom>
          <a:solidFill>
            <a:srgbClr val="E000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913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en diagnóstico clínico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427939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Acreditación CAP — centros genómicos Songdo y Sejong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CLIA — centros Songdo y Sejong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GCLP — primera institución en Corea acreditada para análisis por NGS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precisión en pruebas genéticas: grado A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440680" cy="2048256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91656" y="3986784"/>
            <a:ext cx="182880" cy="182880"/>
          </a:xfrm>
          <a:prstGeom prst="ellipse">
            <a:avLst/>
          </a:prstGeom>
          <a:solidFill>
            <a:srgbClr val="1330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4264" y="3913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la información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427939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— seguridad de la información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27701 — gestión de privacidad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ISMS-P — vigente hasta marzo de 2027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48640" y="605332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certificados vigentes se adjuntan como anexo documental de esta propuesta.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Y TRAZABILIDAD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aseguramos cada resultado.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457200" cy="45720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824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5727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y QC de entrada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70432" y="1865376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concentración, pureza (A260/280 · A260/230) e integridad. Si la muestra no cumple, se informa antes de procesar — no se consume presupuesto en una corrida que fallará.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777240" y="2139696"/>
            <a:ext cx="0" cy="484632"/>
          </a:xfrm>
          <a:prstGeom prst="line">
            <a:avLst/>
          </a:prstGeom>
          <a:noFill/>
          <a:ln w="19050">
            <a:solidFill>
              <a:srgbClr val="C9D4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0A1F4F"/>
          </a:solidFill>
          <a:ln w="12700">
            <a:solidFill>
              <a:srgbClr val="0A1F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07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697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trazable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70432" y="299008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muestra queda registrada en el sistema LIMS con su identificador de orden. El cliente monitorea el avance en tiempo real, etapa por etapa.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77240" y="3264408"/>
            <a:ext cx="0" cy="484632"/>
          </a:xfrm>
          <a:prstGeom prst="line">
            <a:avLst/>
          </a:prstGeom>
          <a:noFill/>
          <a:ln w="19050">
            <a:solidFill>
              <a:srgbClr val="C9D4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0A1F4F"/>
          </a:solidFill>
          <a:ln w="12700">
            <a:solidFill>
              <a:srgbClr val="0A1F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319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3822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de datos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70432" y="411480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calidad por muestra (Q20/Q30, cobertura, duplicados) entregadas junto con los datos crudos.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77240" y="4389120"/>
            <a:ext cx="0" cy="484632"/>
          </a:xfrm>
          <a:prstGeom prst="line">
            <a:avLst/>
          </a:prstGeom>
          <a:noFill/>
          <a:ln w="19050">
            <a:solidFill>
              <a:srgbClr val="C9D4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rgbClr val="0A1F4F"/>
          </a:solidFill>
          <a:ln w="12700">
            <a:solidFill>
              <a:srgbClr val="0A1F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566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494690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y soporte posterior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70432" y="523951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 en formato estándar más análisis bioinformático. Un especialista asignado acompaña la interpretación después de la entrega.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8321040" y="1517904"/>
            <a:ext cx="3291840" cy="1810512"/>
          </a:xfrm>
          <a:prstGeom prst="roundRect">
            <a:avLst>
              <a:gd name="adj" fmla="val 5051"/>
            </a:avLst>
          </a:prstGeom>
          <a:solidFill>
            <a:srgbClr val="E6F7F5"/>
          </a:solidFill>
          <a:ln w="12700">
            <a:solidFill>
              <a:srgbClr val="A9E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0496" y="1682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re-reacción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0496" y="1975104"/>
            <a:ext cx="28529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1F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formato de tubo individual, si una reacción Sanger no entrega resultado por causa atribuible al proceso, se repite sin costo para la institución.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321040" y="3511296"/>
            <a:ext cx="3291840" cy="2121408"/>
          </a:xfrm>
          <a:prstGeom prst="roundRect">
            <a:avLst>
              <a:gd name="adj" fmla="val 4310"/>
            </a:avLst>
          </a:prstGeom>
          <a:solidFill>
            <a:srgbClr val="0A1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0496" y="36758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Plazos comprometidos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40496" y="40416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/ 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40496" y="42428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 en laboratorio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40496" y="45445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40496" y="47457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7 días hábiles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40496" y="50474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Ready to Run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40496" y="52486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4 semanas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LOCAL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global, equipo en Santiago.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práctica frente a un proveedor internacional sin representación en Chile.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3538728" cy="1700784"/>
          </a:xfrm>
          <a:prstGeom prst="roundRect">
            <a:avLst>
              <a:gd name="adj" fmla="val 5376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993392"/>
            <a:ext cx="310896" cy="310896"/>
          </a:xfrm>
          <a:prstGeom prst="ellipse">
            <a:avLst/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377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de muestras sin costo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2779776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Coordinamos el retiro directamente en el laboratorio o dependencia de la universidad dentro de Santiago.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270248" y="1773936"/>
            <a:ext cx="3538728" cy="1700784"/>
          </a:xfrm>
          <a:prstGeom prst="roundRect">
            <a:avLst>
              <a:gd name="adj" fmla="val 5376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9704" y="1993392"/>
            <a:ext cx="310896" cy="310896"/>
          </a:xfrm>
          <a:prstGeom prst="ellipse">
            <a:avLst/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9704" y="2377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internacional gestionada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9704" y="2779776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semanal y gestión aduanera a cargo de Macrogen. La institución no tramita el envío internacional.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991856" y="1773936"/>
            <a:ext cx="3538728" cy="1700784"/>
          </a:xfrm>
          <a:prstGeom prst="roundRect">
            <a:avLst>
              <a:gd name="adj" fmla="val 5376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1993392"/>
            <a:ext cx="310896" cy="310896"/>
          </a:xfrm>
          <a:prstGeom prst="ellipse">
            <a:avLst/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11312" y="2377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local en USD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11312" y="2779776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exenta de IVA para Chile, con documentación tributaria local y contraparte administrativa en Santiago.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538728" cy="1700784"/>
          </a:xfrm>
          <a:prstGeom prst="roundRect">
            <a:avLst>
              <a:gd name="adj" fmla="val 5376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3877056"/>
            <a:ext cx="310896" cy="310896"/>
          </a:xfrm>
          <a:prstGeom prst="ellipse">
            <a:avLst/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42611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 en español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" y="4663440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asignado, en horario de Chile. Asesoría en diseño experimental antes de comprometer presupuesto.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270248" y="3657600"/>
            <a:ext cx="3538728" cy="1700784"/>
          </a:xfrm>
          <a:prstGeom prst="roundRect">
            <a:avLst>
              <a:gd name="adj" fmla="val 5376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9704" y="3877056"/>
            <a:ext cx="310896" cy="310896"/>
          </a:xfrm>
          <a:prstGeom prst="ellipse">
            <a:avLst/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9704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9704" y="42611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pedidos en línea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9704" y="4663440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propio (dna.macrogen.com) con seguimiento en tiempo real y trazabilidad por orden.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7991856" y="3657600"/>
            <a:ext cx="3538728" cy="1700784"/>
          </a:xfrm>
          <a:prstGeom prst="roundRect">
            <a:avLst>
              <a:gd name="adj" fmla="val 5376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11312" y="3877056"/>
            <a:ext cx="310896" cy="310896"/>
          </a:xfrm>
          <a:prstGeom prst="ellipse">
            <a:avLst/>
          </a:prstGeom>
          <a:solidFill>
            <a:srgbClr val="84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1312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11312" y="42611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institucional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11312" y="4663440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directo de casa matriz y de la red global: la operación no depende de un único punto de contacto.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48640" y="5632704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E6F7F5"/>
          </a:solidFill>
          <a:ln w="12700">
            <a:solidFill>
              <a:srgbClr val="A9E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Magdalena 140, Of. 401, Las Condes, Santiago  ·  Atiende Chile y Perú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CIENTÍFICO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socio que publica, no sólo procesa.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0A1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190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77240" y="263347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en revistas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indexadas SCI, incluyendo la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Nature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15968" y="1517904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7136" y="166420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 Medicina de Precisión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17136" y="1975104"/>
            <a:ext cx="31638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I+D propio dedicado a genómica y medicina de precisión. La experiencia metodológica del equipo científico está disponible para el diseño de sus proyectos.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517904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sx="100000" sy="100000" kx="0" ky="0" algn="bl" rotWithShape="0" blurRad="88900" dist="12700" dir="5400000">
              <a:srgbClr val="9AA8C4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47888" y="166420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Biobanco de material humano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47888" y="1975104"/>
            <a:ext cx="31638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material biológico de origen humano con gobernanza establecida, base de los grandes proyectos poblacionales de Macrogen.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7673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poblacionales de referencia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4425696"/>
            <a:ext cx="137160" cy="13716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27024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Genome Project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05072" y="427024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genoma humano coreano secuenciado por completo en el mundo (2008), base del programa nacional de genómica.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8640" y="490118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5120640"/>
            <a:ext cx="137160" cy="13716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9651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Genome Project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05072" y="496519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una base de datos genómica pan-asiática de 30 PB, incluyendo el mapa de CNV de población asiática.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48640" y="559612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5815584"/>
            <a:ext cx="137160" cy="137160"/>
          </a:xfrm>
          <a:prstGeom prst="ellipse">
            <a:avLst/>
          </a:prstGeom>
          <a:solidFill>
            <a:srgbClr val="00BF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66013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en cáncer de pulmón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05072" y="5660136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mundial del primer gen causal novedoso de cáncer de pulmón (2011), publicado en revistas de alto impacto.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compromiso con la institución.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65376"/>
            <a:ext cx="420624" cy="420624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8366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007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en diseño experimental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9933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cotizar, revisamos con el investigador la pregunta científica para dimensionar correctamente cobertura, número de muestras y plataforma. Si el proyecto requiere menos de lo previsto, lo decimos.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035808"/>
            <a:ext cx="420624" cy="420624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0540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87121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transferencia de conocimiento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1638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para dictar seminarios técnicos y sesiones de formación para investigadores, tesistas y personal de laboratorio de la universidad.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4206240"/>
            <a:ext cx="420624" cy="420624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22452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preferentes por volumen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33425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precios escalable por formato (tubo, media placa, placa 96) y ajustes por volumen para proyectos recurrentes o multi-laboratorio.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8640" y="5065776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5376672"/>
            <a:ext cx="420624" cy="420624"/>
          </a:xfrm>
          <a:prstGeom prst="ellipse">
            <a:avLst/>
          </a:prstGeom>
          <a:solidFill>
            <a:srgbClr val="00BFB2"/>
          </a:solidFill>
          <a:ln w="12700">
            <a:solidFill>
              <a:srgbClr val="00BF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539496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5212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Interlocutor técnico único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504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39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especialista asignado a la cuenta institucional, responsable de la continuidad del servicio y de la coordinación con casa matriz.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Agencia en Chile  ·  info-chile@macrogen.com  ·  +56 9 5845 1395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4023360"/>
            <a:ext cx="4754880" cy="4754880"/>
          </a:xfrm>
          <a:prstGeom prst="ellipse">
            <a:avLst/>
          </a:prstGeom>
          <a:solidFill>
            <a:srgbClr val="1330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188720"/>
            <a:ext cx="3291840" cy="3291840"/>
          </a:xfrm>
          <a:prstGeom prst="ellipse">
            <a:avLst/>
          </a:prstGeom>
          <a:solidFill>
            <a:srgbClr val="008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HUMANIZING GENOMICS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años de experiencia,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disposición de su investigación.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3054096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F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Quedamos a disposición de la comisión evaluadora para ampliar cualquier aspecto técnico de esta propuesta, realizar una presentación presencial o coordinar una prueba piloto con muestras de la institución.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169664"/>
            <a:ext cx="5120640" cy="1700784"/>
          </a:xfrm>
          <a:prstGeom prst="roundRect">
            <a:avLst>
              <a:gd name="adj" fmla="val 5376"/>
            </a:avLst>
          </a:prstGeom>
          <a:solidFill>
            <a:srgbClr val="16305F"/>
          </a:solidFill>
          <a:ln w="12700">
            <a:solidFill>
              <a:srgbClr val="2C4B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35254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comercial y técnico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626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Macrogen Inc. · Agencia en Chile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95604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Magdalena 140, Of. 401 · Las Condes, Santiago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info-chile@macrogen.com  ·  +56 9 5845 1395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dna.macrogen.com  ·  www.macrogen-es.com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72200" y="4169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72200" y="4572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15400" y="4169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15400" y="4572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mundial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50383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5440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15400" y="50383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15400" y="5440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SCI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Macrogen Inc. Agencia en Chile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Capacidades Macrogen - Licitacion Universitaria</dc:title>
  <dc:subject>PptxGenJS Presentation</dc:subject>
  <dc:creator>Macrogen Chile</dc:creator>
  <cp:lastModifiedBy>Macrogen Chile</cp:lastModifiedBy>
  <cp:revision>1</cp:revision>
  <dcterms:created xsi:type="dcterms:W3CDTF">2026-08-17T11:12:28Z</dcterms:created>
  <dcterms:modified xsi:type="dcterms:W3CDTF">2026-08-17T11:12:28Z</dcterms:modified>
</cp:coreProperties>
</file>